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ent" id="{e8f3d379-3f8f-c986-8551-90afc7deebf2}">
          <p14:sldIdLst>
            <p14:sldId id="256"/>
          </p14:sldIdLst>
        </p14:section>
        <p14:section name="Plan" id="{6af4d118-bdfa-b886-896b-1e78f3f2ad41}">
          <p14:sldIdLst>
            <p14:sldId id="257"/>
          </p14:sldIdLst>
        </p14:section>
        <p14:section name="Math" id="{8228a84b-5859-28d0-7de9-fa8d06408d89}">
          <p14:sldIdLst>
            <p14:sldId id="258"/>
          </p14:sldIdLst>
        </p14:section>
        <p14:section name="Week" id="{0eabf7ad-2da2-f97c-d5a9-b39cfe4c582a}">
          <p14:sldIdLst>
            <p14:sldId id="259"/>
          </p14:sldIdLst>
        </p14:section>
        <p14:section name="Asset" id="{a3a0d2e2-94af-9d39-0b61-16c2897f94f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120E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6120E"/>
                </a:solidFill>
                <a:latin typeface="+mj-lt"/>
              </a:rPr>
              <a:t>Planned total sign-ups by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 total</c:v>
                </c:pt>
              </c:strCache>
            </c:strRef>
          </c:tx>
          <c:spPr>
            <a:solidFill>
              <a:srgbClr val="FF4A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2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110</c:v>
                </c:pt>
                <c:pt idx="2">
                  <c:v>190</c:v>
                </c:pt>
                <c:pt idx="3">
                  <c:v>270</c:v>
                </c:pt>
                <c:pt idx="4">
                  <c:v>350</c:v>
                </c:pt>
                <c:pt idx="5">
                  <c:v>430</c:v>
                </c:pt>
                <c:pt idx="6">
                  <c:v>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12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2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I'm targeting: final-year engineering students in tier-2 and tier-3 colleges across the South, CSE, IT and ECE first. Why they care: it's placement season and their resumes look identical. What makes them register: a concrete outcome — a deployed project link — for one free hour, a 30-second form, and seeing their friends and college on a live leaderboard.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channels, prioritised. One: campus WhatsApp groups through ten student ambassadors — that's where final-years actually read, and a classmate's message beats any ad. Two: the referral loop — every registrant gets a personal link and their college races on a live leaderboard, with small rewards. Three: LinkedIn, one reel, and placement-cell emails for credibility and urgency. I'm deliberately not doing paid ads or twenty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how 500 adds up. Ambassadors: ten people, three groups each, about 150 members per group — 4,500 people see it; if 15% open the link and 37% sign up, that's 250. Referrals: about 350 direct sign-ups, 30% share, each sharer brings 1.4 friends — 150. Social and placement cells: around 300 visits at a third converting — 100. These rates are assumptions; the admin dashboard measures the real ones from day one, and by day three I move effort to the best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week: launch and recruit ambassadors on day one, the first ambassador wave and placement-cell emails on day two, then read the dashboard on day three and back what works. Mid-week a college-race update to everyone, a reel on day five, scarcity on day six, last call on day seven. Budget: a thousand rupees of voucher prizes for top referrers, eight hundred as small recharges paid only to ambassadors who deliver, two hundred to boost whichever post performs best. Tools cost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thing I built is the engine that runs this plan, not just a landing page: a 30-second sign-up with a live seat meter, personal referral links that preview with your name and college, a college leaderboard with rewards, an ambassador kit that writes tracked WhatsApp messages, an admin dashboard showing plan versus actual and conversion per source, and a 60-minute challenge whose shareable result cards bring in the next wave. It has 32 automated tests, no known production vulnerabilities, and runs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60350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59436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06324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Tendool · NxtWave Growth Intern challenge · Round 1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Build60 · Growth 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Tendool/NxtWave-Assignment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 PLAN · FREE WORKSHOP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500 final-year students in 7 days, on ₹2,000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0632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For “Build Your First AI Project in 60 Minutes”. Three channels, one tracked funnel, and a growth engine I built to run it.</a:t>
            </a:r>
            <a:endParaRPr lang="en-US" sz="1800" dirty="0"/>
          </a:p>
        </p:txBody>
      </p:sp>
      <p:sp>
        <p:nvSpPr>
          <p:cNvPr id="5" name="Student card"/>
          <p:cNvSpPr/>
          <p:nvPr/>
        </p:nvSpPr>
        <p:spPr>
          <a:xfrm>
            <a:off x="6903720" y="685800"/>
            <a:ext cx="4754880" cy="5349240"/>
          </a:xfrm>
          <a:prstGeom prst="roundRect">
            <a:avLst>
              <a:gd name="adj" fmla="val 1154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76200" dir="2700000">
              <a:srgbClr val="FF4A1C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WHO, WHY, WHAT TRIGGERS A SIGN-UP</a:t>
            </a:r>
            <a:endParaRPr lang="en-US" sz="1100" dirty="0"/>
          </a:p>
        </p:txBody>
      </p:sp>
      <p:sp>
        <p:nvSpPr>
          <p:cNvPr id="7" name="Who icon"/>
          <p:cNvSpPr/>
          <p:nvPr/>
        </p:nvSpPr>
        <p:spPr>
          <a:xfrm>
            <a:off x="7223760" y="137160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8" name="Who ic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4344" y="1472184"/>
            <a:ext cx="256032" cy="256032"/>
          </a:xfrm>
          <a:prstGeom prst="rect">
            <a:avLst/>
          </a:prstGeom>
        </p:spPr>
      </p:pic>
      <p:sp>
        <p:nvSpPr>
          <p:cNvPr id="9" name="Who text"/>
          <p:cNvSpPr txBox="1"/>
          <p:nvPr/>
        </p:nvSpPr>
        <p:spPr>
          <a:xfrm>
            <a:off x="7863840" y="132588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Final-year engineering students at tier-2/3 colleges in Telangana, Andhra, Karnataka and Tamil Nadu. CSE/IT/ECE first; every branch welcome.</a:t>
            </a:r>
            <a:endParaRPr lang="en-US" sz="1800" dirty="0"/>
          </a:p>
        </p:txBody>
      </p:sp>
      <p:sp>
        <p:nvSpPr>
          <p:cNvPr id="10" name="Why they care icon"/>
          <p:cNvSpPr/>
          <p:nvPr/>
        </p:nvSpPr>
        <p:spPr>
          <a:xfrm>
            <a:off x="7223760" y="2907792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11" name="Why they care ic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344" y="3008376"/>
            <a:ext cx="256032" cy="256032"/>
          </a:xfrm>
          <a:prstGeom prst="rect">
            <a:avLst/>
          </a:prstGeom>
        </p:spPr>
      </p:pic>
      <p:sp>
        <p:nvSpPr>
          <p:cNvPr id="12" name="Why they care text"/>
          <p:cNvSpPr txBox="1"/>
          <p:nvPr/>
        </p:nvSpPr>
        <p:spPr>
          <a:xfrm>
            <a:off x="7863840" y="2862072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they care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Placement season. Every resume has the same three tutorial projects, and interviewers ask “what did you build?”.</a:t>
            </a:r>
            <a:endParaRPr lang="en-US" sz="1800" dirty="0"/>
          </a:p>
        </p:txBody>
      </p:sp>
      <p:sp>
        <p:nvSpPr>
          <p:cNvPr id="13" name="What makes them register icon"/>
          <p:cNvSpPr/>
          <p:nvPr/>
        </p:nvSpPr>
        <p:spPr>
          <a:xfrm>
            <a:off x="7223760" y="4443984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14" name="What makes them register 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4544568"/>
            <a:ext cx="256032" cy="256032"/>
          </a:xfrm>
          <a:prstGeom prst="rect">
            <a:avLst/>
          </a:prstGeom>
        </p:spPr>
      </p:pic>
      <p:sp>
        <p:nvSpPr>
          <p:cNvPr id="15" name="What makes them register text"/>
          <p:cNvSpPr txBox="1"/>
          <p:nvPr/>
        </p:nvSpPr>
        <p:spPr>
          <a:xfrm>
            <a:off x="7863840" y="4398264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them register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deployed project link in 60 free minutes, a 30-second form, and their friends and college on a live leaderboard.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 · PRIORITISED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Three channels, in priority order</a:t>
            </a:r>
            <a:endParaRPr lang="en-US" sz="3600" dirty="0"/>
          </a:p>
        </p:txBody>
      </p:sp>
      <p:sp>
        <p:nvSpPr>
          <p:cNvPr id="4" name="Channel 1"/>
          <p:cNvSpPr/>
          <p:nvPr/>
        </p:nvSpPr>
        <p:spPr>
          <a:xfrm>
            <a:off x="548640" y="1600200"/>
            <a:ext cx="3483864" cy="4160520"/>
          </a:xfrm>
          <a:prstGeom prst="roundRect">
            <a:avLst>
              <a:gd name="adj" fmla="val 1575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6120E">
                <a:alpha val="100000"/>
              </a:srgbClr>
            </a:outerShdw>
          </a:effectLst>
        </p:spPr>
      </p:sp>
      <p:sp>
        <p:nvSpPr>
          <p:cNvPr id="5" name="Channel 1 icon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6" name="Channel 1 ic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293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46704" y="1783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95728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WhatsApp via ambassadors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registrations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20440"/>
            <a:ext cx="2935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10 ambassadors (club leads, class reps) post the kit’s three ready messages in class, hostel and coding groups.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Why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Final-years read WhatsApp, not ads. A classmate’s message is trusted, and every link is tracked.</a:t>
            </a:r>
            <a:endParaRPr lang="en-US" sz="1400" dirty="0"/>
          </a:p>
        </p:txBody>
      </p:sp>
      <p:sp>
        <p:nvSpPr>
          <p:cNvPr id="11" name="Channel 2"/>
          <p:cNvSpPr/>
          <p:nvPr/>
        </p:nvSpPr>
        <p:spPr>
          <a:xfrm>
            <a:off x="4352544" y="1600200"/>
            <a:ext cx="3483864" cy="4160520"/>
          </a:xfrm>
          <a:prstGeom prst="roundRect">
            <a:avLst>
              <a:gd name="adj" fmla="val 1575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6120E">
                <a:alpha val="100000"/>
              </a:srgbClr>
            </a:outerShdw>
          </a:effectLst>
        </p:spPr>
      </p:sp>
      <p:sp>
        <p:nvSpPr>
          <p:cNvPr id="12" name="Channel 2 icon"/>
          <p:cNvSpPr/>
          <p:nvPr/>
        </p:nvSpPr>
        <p:spPr>
          <a:xfrm>
            <a:off x="4626864" y="182880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13" name="Channel 2 ic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293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50608" y="1783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4626864" y="2395728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loop + college race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626864" y="27889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registrations</a:t>
            </a:r>
            <a:endParaRPr lang="en-US" sz="4000" dirty="0"/>
          </a:p>
        </p:txBody>
      </p:sp>
      <p:sp>
        <p:nvSpPr>
          <p:cNvPr id="17" name="Text 13"/>
          <p:cNvSpPr txBox="1"/>
          <p:nvPr/>
        </p:nvSpPr>
        <p:spPr>
          <a:xfrm>
            <a:off x="4626864" y="3520440"/>
            <a:ext cx="2935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registrant gets a personal link and one-tap share; colleges race on a live leaderboard.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Why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College pride, plus rewards at 1 and 3 friends. It costs only the voucher pool.</a:t>
            </a:r>
            <a:endParaRPr lang="en-US" sz="1400" dirty="0"/>
          </a:p>
        </p:txBody>
      </p:sp>
      <p:sp>
        <p:nvSpPr>
          <p:cNvPr id="18" name="Channel 3"/>
          <p:cNvSpPr/>
          <p:nvPr/>
        </p:nvSpPr>
        <p:spPr>
          <a:xfrm>
            <a:off x="8156448" y="1600200"/>
            <a:ext cx="3483864" cy="4160520"/>
          </a:xfrm>
          <a:prstGeom prst="roundRect">
            <a:avLst>
              <a:gd name="adj" fmla="val 1575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6120E">
                <a:alpha val="100000"/>
              </a:srgbClr>
            </a:outerShdw>
          </a:effectLst>
        </p:spPr>
      </p:sp>
      <p:sp>
        <p:nvSpPr>
          <p:cNvPr id="19" name="Channel 3 icon"/>
          <p:cNvSpPr/>
          <p:nvPr/>
        </p:nvSpPr>
        <p:spPr>
          <a:xfrm>
            <a:off x="8430768" y="182880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20" name="Channel 3 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92938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54512" y="1783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8430768" y="2395728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LinkedIn, Instagram + placement cells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430768" y="27889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registrations</a:t>
            </a:r>
            <a:endParaRPr lang="en-US" sz="4000" dirty="0"/>
          </a:p>
        </p:txBody>
      </p:sp>
      <p:sp>
        <p:nvSpPr>
          <p:cNvPr id="24" name="Text 19"/>
          <p:cNvSpPr txBox="1"/>
          <p:nvPr/>
        </p:nvSpPr>
        <p:spPr>
          <a:xfrm>
            <a:off x="8430768" y="3520440"/>
            <a:ext cx="29352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Two LinkedIn posts and one reel showing the live seat count; a ready announcement emailed to 20 placement cells.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Why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placement-cell forward adds credibility; posts create late-week urgency.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Not doing: paid ads at scale, cold DMs, or twenty scattered ideas. Each channel has one number on the dashboard.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500 registrations add up</a:t>
            </a:r>
            <a:endParaRPr lang="en-US" sz="3600" dirty="0"/>
          </a:p>
        </p:txBody>
      </p:sp>
      <p:graphicFrame>
        <p:nvGraphicFramePr>
          <p:cNvPr id="4" name="Funne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70332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CHANNEL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ASSUMPTION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SIGN-UPS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Campus WhatsApp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ambassadors × 3 groups × ~150 members = 4,500 reach → 15% open → 675 visits → 37% sign up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250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Referral loop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~350 direct sign-ups × 30% share × 1.4 friends per sharer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Social + placement cells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~300 visits from posts, the reel and 20 placement-cell emails → 33% sign up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5" name="Daily plan card"/>
          <p:cNvSpPr/>
          <p:nvPr/>
        </p:nvSpPr>
        <p:spPr>
          <a:xfrm>
            <a:off x="7315200" y="1600200"/>
            <a:ext cx="4325112" cy="4297680"/>
          </a:xfrm>
          <a:prstGeom prst="roundRect">
            <a:avLst>
              <a:gd name="adj" fmla="val 1277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6120E">
                <a:alpha val="100000"/>
              </a:srgbClr>
            </a:outerShdw>
          </a:effectLst>
        </p:spPr>
      </p:sp>
      <p:graphicFrame>
        <p:nvGraphicFramePr>
          <p:cNvPr id="6" name="Daily plan chart" descr=""/>
          <p:cNvGraphicFramePr/>
          <p:nvPr/>
        </p:nvGraphicFramePr>
        <p:xfrm>
          <a:off x="7452360" y="1691640"/>
          <a:ext cx="4069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623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Rates are assumptions. The dashboard measures real visitors → sign-ups per link tag from Day 1; by Day 3 effort moves to whichever channel converts best.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WEEK · THE BUDGET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Seven days, ₹2,000</a:t>
            </a:r>
            <a:endParaRPr lang="en-US" sz="3600" dirty="0"/>
          </a:p>
        </p:txBody>
      </p:sp>
      <p:sp>
        <p:nvSpPr>
          <p:cNvPr id="4" name="Day 1"/>
          <p:cNvSpPr/>
          <p:nvPr/>
        </p:nvSpPr>
        <p:spPr>
          <a:xfrm>
            <a:off x="548640" y="1600200"/>
            <a:ext cx="1463040" cy="2286000"/>
          </a:xfrm>
          <a:prstGeom prst="roundRect">
            <a:avLst>
              <a:gd name="adj" fmla="val 3750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29968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Launch the site, recruit 10 ambassadors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</a:t>
            </a:r>
            <a:endParaRPr lang="en-US" sz="2200" dirty="0"/>
          </a:p>
        </p:txBody>
      </p:sp>
      <p:sp>
        <p:nvSpPr>
          <p:cNvPr id="8" name="Day 2"/>
          <p:cNvSpPr/>
          <p:nvPr/>
        </p:nvSpPr>
        <p:spPr>
          <a:xfrm>
            <a:off x="2153412" y="1600200"/>
            <a:ext cx="1463040" cy="2286000"/>
          </a:xfrm>
          <a:prstGeom prst="roundRect">
            <a:avLst>
              <a:gd name="adj" fmla="val 3750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290572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90572" y="2029968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Ambassador wave 1; email 20 placement cells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90572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</a:t>
            </a:r>
            <a:endParaRPr lang="en-US" sz="2200" dirty="0"/>
          </a:p>
        </p:txBody>
      </p:sp>
      <p:sp>
        <p:nvSpPr>
          <p:cNvPr id="12" name="Day 3"/>
          <p:cNvSpPr/>
          <p:nvPr/>
        </p:nvSpPr>
        <p:spPr>
          <a:xfrm>
            <a:off x="3758184" y="1600200"/>
            <a:ext cx="1463040" cy="2286000"/>
          </a:xfrm>
          <a:prstGeom prst="roundRect">
            <a:avLst>
              <a:gd name="adj" fmla="val 3750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95344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895344" y="2029968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 the dashboard; back the best colleges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</a:t>
            </a:r>
            <a:endParaRPr lang="en-US" sz="2200" dirty="0"/>
          </a:p>
        </p:txBody>
      </p:sp>
      <p:sp>
        <p:nvSpPr>
          <p:cNvPr id="16" name="Day 4"/>
          <p:cNvSpPr/>
          <p:nvPr/>
        </p:nvSpPr>
        <p:spPr>
          <a:xfrm>
            <a:off x="5362956" y="1600200"/>
            <a:ext cx="1463040" cy="2286000"/>
          </a:xfrm>
          <a:prstGeom prst="roundRect">
            <a:avLst>
              <a:gd name="adj" fmla="val 3750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500116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00116" y="2029968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“College race” update to every registrant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500116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</a:t>
            </a:r>
            <a:endParaRPr lang="en-US" sz="2200" dirty="0"/>
          </a:p>
        </p:txBody>
      </p:sp>
      <p:sp>
        <p:nvSpPr>
          <p:cNvPr id="20" name="Day 5"/>
          <p:cNvSpPr/>
          <p:nvPr/>
        </p:nvSpPr>
        <p:spPr>
          <a:xfrm>
            <a:off x="6967728" y="1600200"/>
            <a:ext cx="1463040" cy="2286000"/>
          </a:xfrm>
          <a:prstGeom prst="roundRect">
            <a:avLst>
              <a:gd name="adj" fmla="val 3750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104888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2029968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Reel with the live seat count; boost best post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04888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</a:t>
            </a:r>
            <a:endParaRPr lang="en-US" sz="2200" dirty="0"/>
          </a:p>
        </p:txBody>
      </p:sp>
      <p:sp>
        <p:nvSpPr>
          <p:cNvPr id="24" name="Day 6"/>
          <p:cNvSpPr/>
          <p:nvPr/>
        </p:nvSpPr>
        <p:spPr>
          <a:xfrm>
            <a:off x="8572500" y="1600200"/>
            <a:ext cx="1463040" cy="2286000"/>
          </a:xfrm>
          <a:prstGeom prst="roundRect">
            <a:avLst>
              <a:gd name="adj" fmla="val 3750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70966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709660" y="2029968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“Seats left” push; second ambassador wave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0966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</a:t>
            </a:r>
            <a:endParaRPr lang="en-US" sz="2200" dirty="0"/>
          </a:p>
        </p:txBody>
      </p:sp>
      <p:sp>
        <p:nvSpPr>
          <p:cNvPr id="28" name="Day 7"/>
          <p:cNvSpPr/>
          <p:nvPr/>
        </p:nvSpPr>
        <p:spPr>
          <a:xfrm>
            <a:off x="10177272" y="1600200"/>
            <a:ext cx="1463040" cy="2286000"/>
          </a:xfrm>
          <a:prstGeom prst="roundRect">
            <a:avLst>
              <a:gd name="adj" fmla="val 3750"/>
            </a:avLst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314432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314432" y="2029968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Last call; calendar and group reminders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314432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</a:t>
            </a:r>
            <a:endParaRPr lang="en-US" sz="2200" dirty="0"/>
          </a:p>
        </p:txBody>
      </p:sp>
      <p:sp>
        <p:nvSpPr>
          <p:cNvPr id="32" name="Budget 1"/>
          <p:cNvSpPr/>
          <p:nvPr/>
        </p:nvSpPr>
        <p:spPr>
          <a:xfrm>
            <a:off x="548640" y="4206240"/>
            <a:ext cx="2606040" cy="192024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FF4A1C">
                <a:alpha val="10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7724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₹1,000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9834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Top-3 referrer vouchers (₹500 / ₹300 / ₹200). Powers the referral loop.</a:t>
            </a:r>
            <a:endParaRPr lang="en-US" sz="1400" dirty="0"/>
          </a:p>
        </p:txBody>
      </p:sp>
      <p:sp>
        <p:nvSpPr>
          <p:cNvPr id="35" name="Budget 2"/>
          <p:cNvSpPr/>
          <p:nvPr/>
        </p:nvSpPr>
        <p:spPr>
          <a:xfrm>
            <a:off x="3367735" y="4206240"/>
            <a:ext cx="2606040" cy="1920240"/>
          </a:xfrm>
          <a:prstGeom prst="roundRect">
            <a:avLst>
              <a:gd name="adj" fmla="val 2857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6120E">
                <a:alpha val="10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3596335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₹800</a:t>
            </a:r>
            <a:endParaRPr lang="en-US" sz="3400" dirty="0"/>
          </a:p>
        </p:txBody>
      </p:sp>
      <p:sp>
        <p:nvSpPr>
          <p:cNvPr id="37" name="Text 35"/>
          <p:cNvSpPr txBox="1"/>
          <p:nvPr/>
        </p:nvSpPr>
        <p:spPr>
          <a:xfrm>
            <a:off x="3596335" y="49834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₹100 recharge × 8 ambassadors who bring 15+ sign-ups. Paid only for results.</a:t>
            </a:r>
            <a:endParaRPr lang="en-US" sz="1400" dirty="0"/>
          </a:p>
        </p:txBody>
      </p:sp>
      <p:sp>
        <p:nvSpPr>
          <p:cNvPr id="38" name="Budget 3"/>
          <p:cNvSpPr/>
          <p:nvPr/>
        </p:nvSpPr>
        <p:spPr>
          <a:xfrm>
            <a:off x="6186830" y="4206240"/>
            <a:ext cx="2606040" cy="1920240"/>
          </a:xfrm>
          <a:prstGeom prst="roundRect">
            <a:avLst>
              <a:gd name="adj" fmla="val 2857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6120E">
                <a:alpha val="10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415430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₹200</a:t>
            </a:r>
            <a:endParaRPr lang="en-US" sz="3400" dirty="0"/>
          </a:p>
        </p:txBody>
      </p:sp>
      <p:sp>
        <p:nvSpPr>
          <p:cNvPr id="40" name="Text 38"/>
          <p:cNvSpPr txBox="1"/>
          <p:nvPr/>
        </p:nvSpPr>
        <p:spPr>
          <a:xfrm>
            <a:off x="6415430" y="49834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Boost the best-performing post on Day 5, chosen from the data.</a:t>
            </a:r>
            <a:endParaRPr lang="en-US" sz="1400" dirty="0"/>
          </a:p>
        </p:txBody>
      </p:sp>
      <p:sp>
        <p:nvSpPr>
          <p:cNvPr id="41" name="Budget 4"/>
          <p:cNvSpPr/>
          <p:nvPr/>
        </p:nvSpPr>
        <p:spPr>
          <a:xfrm>
            <a:off x="9005926" y="4206240"/>
            <a:ext cx="2606040" cy="1920240"/>
          </a:xfrm>
          <a:prstGeom prst="roundRect">
            <a:avLst>
              <a:gd name="adj" fmla="val 2857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6120E">
                <a:alpha val="10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9234526" y="4343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400" dirty="0"/>
          </a:p>
        </p:txBody>
      </p:sp>
      <p:sp>
        <p:nvSpPr>
          <p:cNvPr id="43" name="Text 41"/>
          <p:cNvSpPr txBox="1"/>
          <p:nvPr/>
        </p:nvSpPr>
        <p:spPr>
          <a:xfrm>
            <a:off x="9234526" y="49834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Tools: Vercel, a free Postgres and the Gemini free tier.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ONE THING I BUILT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 growth engine, not just a landing page</a:t>
            </a:r>
            <a:endParaRPr lang="en-US" sz="3600" dirty="0"/>
          </a:p>
        </p:txBody>
      </p:sp>
      <p:sp>
        <p:nvSpPr>
          <p:cNvPr id="4" name="Feature 1"/>
          <p:cNvSpPr/>
          <p:nvPr/>
        </p:nvSpPr>
        <p:spPr>
          <a:xfrm>
            <a:off x="548640" y="1600200"/>
            <a:ext cx="3520440" cy="13258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5" name="Feature 1 icon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6" name="Feature 1 ic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93944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6479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+ sign-up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30-second form, live seat meter, 3D hero.</a:t>
            </a:r>
            <a:endParaRPr lang="en-US" sz="1600" dirty="0"/>
          </a:p>
        </p:txBody>
      </p:sp>
      <p:sp>
        <p:nvSpPr>
          <p:cNvPr id="8" name="Feature 2"/>
          <p:cNvSpPr/>
          <p:nvPr/>
        </p:nvSpPr>
        <p:spPr>
          <a:xfrm>
            <a:off x="4343400" y="1600200"/>
            <a:ext cx="3520440" cy="13258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9" name="Feature 2 icon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10" name="Feature 2 ic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642" y="193944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76479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referral links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One-tap share; previews show name + college.</a:t>
            </a:r>
            <a:endParaRPr lang="en-US" sz="1600" dirty="0"/>
          </a:p>
        </p:txBody>
      </p:sp>
      <p:sp>
        <p:nvSpPr>
          <p:cNvPr id="12" name="Feature 3"/>
          <p:cNvSpPr/>
          <p:nvPr/>
        </p:nvSpPr>
        <p:spPr>
          <a:xfrm>
            <a:off x="548640" y="3136392"/>
            <a:ext cx="3520440" cy="13258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13" name="Feature 3 icon"/>
          <p:cNvSpPr/>
          <p:nvPr/>
        </p:nvSpPr>
        <p:spPr>
          <a:xfrm>
            <a:off x="777240" y="3364992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14" name="Feature 3 ic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3475634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0098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Leaderboard + rewards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College podium, tiers at 1 and 3 friends, top-3 prizes.</a:t>
            </a:r>
            <a:endParaRPr lang="en-US" sz="1600" dirty="0"/>
          </a:p>
        </p:txBody>
      </p:sp>
      <p:sp>
        <p:nvSpPr>
          <p:cNvPr id="16" name="Feature 4"/>
          <p:cNvSpPr/>
          <p:nvPr/>
        </p:nvSpPr>
        <p:spPr>
          <a:xfrm>
            <a:off x="4343400" y="3136392"/>
            <a:ext cx="3520440" cy="13258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17" name="Feature 4 icon"/>
          <p:cNvSpPr/>
          <p:nvPr/>
        </p:nvSpPr>
        <p:spPr>
          <a:xfrm>
            <a:off x="4572000" y="3364992"/>
            <a:ext cx="502920" cy="502920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18" name="Feature 4 ico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642" y="3475634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57800" y="330098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Ambassador kit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Tracked link + three AI-written WhatsApp messages.</a:t>
            </a:r>
            <a:endParaRPr lang="en-US" sz="1600" dirty="0"/>
          </a:p>
        </p:txBody>
      </p:sp>
      <p:sp>
        <p:nvSpPr>
          <p:cNvPr id="20" name="Feature 5"/>
          <p:cNvSpPr/>
          <p:nvPr/>
        </p:nvSpPr>
        <p:spPr>
          <a:xfrm>
            <a:off x="548640" y="4672584"/>
            <a:ext cx="3520440" cy="13258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21" name="Feature 5 icon"/>
          <p:cNvSpPr/>
          <p:nvPr/>
        </p:nvSpPr>
        <p:spPr>
          <a:xfrm>
            <a:off x="777240" y="4901184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22" name="Feature 5 ico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82" y="5011826"/>
            <a:ext cx="281635" cy="28163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83717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Plan vs actual and conversion for every source.</a:t>
            </a:r>
            <a:endParaRPr lang="en-US" sz="1600" dirty="0"/>
          </a:p>
        </p:txBody>
      </p:sp>
      <p:sp>
        <p:nvSpPr>
          <p:cNvPr id="24" name="Feature 6"/>
          <p:cNvSpPr/>
          <p:nvPr/>
        </p:nvSpPr>
        <p:spPr>
          <a:xfrm>
            <a:off x="4343400" y="4672584"/>
            <a:ext cx="3520440" cy="13258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6120E">
                <a:alpha val="100000"/>
              </a:srgbClr>
            </a:outerShdw>
          </a:effectLst>
        </p:spPr>
      </p:sp>
      <p:sp>
        <p:nvSpPr>
          <p:cNvPr id="25" name="Feature 6 icon"/>
          <p:cNvSpPr/>
          <p:nvPr/>
        </p:nvSpPr>
        <p:spPr>
          <a:xfrm>
            <a:off x="4572000" y="4901184"/>
            <a:ext cx="502920" cy="502920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pic>
        <p:nvPicPr>
          <p:cNvPr id="26" name="Feature 6 icon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2642" y="5011826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57800" y="483717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60-minute challenge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AI grading + result cards that bring the next wave.</a:t>
            </a:r>
            <a:endParaRPr lang="en-US" sz="1600" dirty="0"/>
          </a:p>
        </p:txBody>
      </p:sp>
      <p:sp>
        <p:nvSpPr>
          <p:cNvPr id="28" name="Proof card"/>
          <p:cNvSpPr/>
          <p:nvPr/>
        </p:nvSpPr>
        <p:spPr>
          <a:xfrm>
            <a:off x="8183880" y="1600200"/>
            <a:ext cx="3456432" cy="4398264"/>
          </a:xfrm>
          <a:prstGeom prst="roundRect">
            <a:avLst>
              <a:gd name="adj" fmla="val 1587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FF4A1C">
                <a:alpha val="100000"/>
              </a:srgbClr>
            </a:outerShdw>
          </a:effectLst>
        </p:spPr>
      </p:sp>
      <p:sp>
        <p:nvSpPr>
          <p:cNvPr id="29" name="Text 21"/>
          <p:cNvSpPr txBox="1"/>
          <p:nvPr/>
        </p:nvSpPr>
        <p:spPr>
          <a:xfrm>
            <a:off x="8458200" y="17830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600" dirty="0"/>
          </a:p>
        </p:txBody>
      </p:sp>
      <p:sp>
        <p:nvSpPr>
          <p:cNvPr id="30" name="Text 22"/>
          <p:cNvSpPr txBox="1"/>
          <p:nvPr/>
        </p:nvSpPr>
        <p:spPr>
          <a:xfrm>
            <a:off x="8458200" y="2331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automated tests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8458200" y="28072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32" name="Text 24"/>
          <p:cNvSpPr txBox="1"/>
          <p:nvPr/>
        </p:nvSpPr>
        <p:spPr>
          <a:xfrm>
            <a:off x="8458200" y="33558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known vulnerabilities in production dependencies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58200" y="38313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600" dirty="0"/>
          </a:p>
        </p:txBody>
      </p:sp>
      <p:sp>
        <p:nvSpPr>
          <p:cNvPr id="34" name="Text 26"/>
          <p:cNvSpPr txBox="1"/>
          <p:nvPr/>
        </p:nvSpPr>
        <p:spPr>
          <a:xfrm>
            <a:off x="8458200" y="43799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to run on free tiers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845820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000" dirty="0"/>
          </a:p>
          <a:p>
            <a:pPr indent="0" marL="0">
              <a:buNone/>
            </a:pPr>
            <a:r>
              <a:rPr lang="en-US" sz="1300" u="sng" dirty="0">
                <a:solidFill>
                  <a:schemeClr val="bg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github.com/Tendool/NxtWave-Assignment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ild60">
  <a:themeElements>
    <a:clrScheme name="Build60">
      <a:dk1>
        <a:srgbClr val="16120E"/>
      </a:dk1>
      <a:lt1>
        <a:srgbClr val="FFFFFF"/>
      </a:lt1>
      <a:dk2>
        <a:srgbClr val="6B6256"/>
      </a:dk2>
      <a:lt2>
        <a:srgbClr val="F3EEE3"/>
      </a:lt2>
      <a:accent1>
        <a:srgbClr val="FF4A1C"/>
      </a:accent1>
      <a:accent2>
        <a:srgbClr val="FFE14D"/>
      </a:accent2>
      <a:accent3>
        <a:srgbClr val="1F5C45"/>
      </a:accent3>
      <a:accent4>
        <a:srgbClr val="16120E"/>
      </a:accent4>
      <a:accent5>
        <a:srgbClr val="E8E1D2"/>
      </a:accent5>
      <a:accent6>
        <a:srgbClr val="FBF8F1"/>
      </a:accent6>
      <a:hlink>
        <a:srgbClr val="FF4A1C"/>
      </a:hlink>
      <a:folHlink>
        <a:srgbClr val="1F5C45"/>
      </a:folHlink>
    </a:clrScheme>
    <a:fontScheme name="Build60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Build60 — Growth Plan</dc:title>
  <dc:subject>NxtWave Growth Intern challenge</dc:subject>
  <dc:creator>Tendool</dc:creator>
  <cp:lastModifiedBy>Tendool</cp:lastModifiedBy>
  <cp:revision>1</cp:revision>
  <dcterms:created xsi:type="dcterms:W3CDTF">2026-10-04T17:02:46Z</dcterms:created>
  <dcterms:modified xsi:type="dcterms:W3CDTF">2026-10-04T17:02:46Z</dcterms:modified>
</cp:coreProperties>
</file>